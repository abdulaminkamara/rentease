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4114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-731520"/>
            <a:ext cx="2651760" cy="265176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515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C4B5FD"/>
                </a:solidFill>
                <a:latin typeface="Calibri"/>
              </a:rPr>
              <a:t>UNIVERSITY OF MANAGEMENT AND TECHNOLOGY (UNIMTECH)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000" b="1" i="0">
                <a:solidFill>
                  <a:srgbClr val="FFFFFF"/>
                </a:solidFill>
                <a:latin typeface="Calibri"/>
              </a:rPr>
              <a:t>RentEase</a:t>
            </a:r>
          </a:p>
          <a:p>
            <a:r>
              <a:rPr sz="2600" b="0" i="0">
                <a:solidFill>
                  <a:srgbClr val="C7D2FE"/>
                </a:solidFill>
                <a:latin typeface="Calibri"/>
              </a:rPr>
              <a:t>Online Rental and Property Listing Management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200400"/>
            <a:ext cx="146304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 web platform that connects landlords and tenants through verified property listings, tracked bookings and transparent rent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10332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C4B5FD"/>
                </a:solidFill>
                <a:latin typeface="Calibri"/>
              </a:rPr>
              <a:t>Presented by</a:t>
            </a:r>
          </a:p>
          <a:p>
            <a:pPr>
              <a:spcBef>
                <a:spcPts val="400"/>
              </a:spcBef>
            </a:pPr>
            <a:r>
              <a:rPr sz="2400" b="1" i="0">
                <a:solidFill>
                  <a:srgbClr val="FFFFFF"/>
                </a:solidFill>
                <a:latin typeface="Calibri"/>
              </a:rPr>
              <a:t>Abdul Amin Kamara</a:t>
            </a:r>
          </a:p>
          <a:p>
            <a:r>
              <a:rPr sz="1500" b="0" i="0">
                <a:solidFill>
                  <a:srgbClr val="C7D2FE"/>
                </a:solidFill>
                <a:latin typeface="Calibri"/>
              </a:rPr>
              <a:t>Student ID: 22/CS/TEC/O72   |   Department: Computer Science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C4B5FD"/>
                </a:solidFill>
                <a:latin typeface="Calibri"/>
              </a:rPr>
              <a:t>Final Year Project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E1B4B"/>
                </a:solidFill>
                <a:latin typeface="Calibri"/>
              </a:rPr>
              <a:t>Background &amp; 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70432"/>
            <a:ext cx="1143000" cy="685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Rental search is manual.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Landlords and tenants rely on word of mouth, print ads and trusted contacts.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Fragmented listings.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No central source to compare properties across Freetown, Bo, Kenema and Makeni.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Trust gap.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Fake or inflated listings appear; there is no verification of landlords or properties.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No tracking.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Booking requests, approvals and payment status go unrecorded, leading to disputes.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Slow reporting.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Preparing rent or occupancy summaries takes days instead of minutes.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Goal: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a single trusted platform offering verified listings, structured bookings and transparent rent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64748B"/>
                </a:solidFill>
                <a:latin typeface="Calibri"/>
              </a:rPr>
              <a:t>Abdul Amin Kamara  |  22/CS/TEC/O72  |  UNIMTECH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E1B4B"/>
                </a:solidFill>
                <a:latin typeface="Calibri"/>
              </a:rPr>
              <a:t>Aim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70432"/>
            <a:ext cx="1143000" cy="685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F59E0B"/>
                </a:solidFill>
                <a:latin typeface="Calibri"/>
              </a:rPr>
              <a:t>AIM:  </a:t>
            </a:r>
            <a:r>
              <a:rPr sz="1800" b="1" i="0">
                <a:solidFill>
                  <a:srgbClr val="1E1B4B"/>
                </a:solidFill>
                <a:latin typeface="Calibri"/>
              </a:rPr>
              <a:t>To design and implement a secure web-based rental property listing and management system that connects tenants with verified landlords.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7C3AED"/>
                </a:solidFill>
                <a:latin typeface="Calibri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698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Design a data model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(9 tables) for users, properties, bookings, rentals and payments.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Implement role-based access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for Admin, Landlord and Tenant using Appwrite authentication.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Provide searchable listings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with filters (keyword, city, type, price, bedrooms) and pagination.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Build a booking workflow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(request → approval → active rental) with rent payment tracking.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Evaluate the system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using functional test cases and a realistic, idempotent demo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64748B"/>
                </a:solidFill>
                <a:latin typeface="Calibri"/>
              </a:rPr>
              <a:t>Abdul Amin Kamara  |  22/CS/TEC/O72  |  UNIMTECH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E1B4B"/>
                </a:solidFill>
                <a:latin typeface="Calibri"/>
              </a:rPr>
              <a:t>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70432"/>
            <a:ext cx="1143000" cy="685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4F46E5"/>
                </a:solidFill>
                <a:latin typeface="Calibri"/>
              </a:rPr>
              <a:t>✓  INCLUDED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5720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1E1B4B"/>
                </a:solidFill>
                <a:latin typeface="Calibri"/>
              </a:rPr>
              <a:t>▪ Role-based authentication (Admin / Landlord / Tenant)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1E1B4B"/>
                </a:solidFill>
                <a:latin typeface="Calibri"/>
              </a:rPr>
              <a:t>▪ Property listing with photo upload &amp; verification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1E1B4B"/>
                </a:solidFill>
                <a:latin typeface="Calibri"/>
              </a:rPr>
              <a:t>▪ Search &amp; filters with pagination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1E1B4B"/>
                </a:solidFill>
                <a:latin typeface="Calibri"/>
              </a:rPr>
              <a:t>▪ Booking → approval → rental workflow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1E1B4B"/>
                </a:solidFill>
                <a:latin typeface="Calibri"/>
              </a:rPr>
              <a:t>▪ Rent payment recording &amp; status tracking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1E1B4B"/>
                </a:solidFill>
                <a:latin typeface="Calibri"/>
              </a:rPr>
              <a:t>▪ Reviews, ratings, saved properties, notifications &amp;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120640" cy="4663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830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64748B"/>
                </a:solidFill>
                <a:latin typeface="Calibri"/>
              </a:rPr>
              <a:t>✗  EXCLUDED (future work)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86000"/>
            <a:ext cx="45720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1E1B4B"/>
                </a:solidFill>
                <a:latin typeface="Calibri"/>
              </a:rPr>
              <a:t>▪ Online payment gateway integration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1E1B4B"/>
                </a:solidFill>
                <a:latin typeface="Calibri"/>
              </a:rPr>
              <a:t>▪ Native mobile apps and SMS alerts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1E1B4B"/>
                </a:solidFill>
                <a:latin typeface="Calibri"/>
              </a:rPr>
              <a:t>▪ Offline mode for low-connectivity areas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1E1B4B"/>
                </a:solidFill>
                <a:latin typeface="Calibri"/>
              </a:rPr>
              <a:t>▪ Advanced analytics / AI-based price estimation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7395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64748B"/>
                </a:solidFill>
                <a:latin typeface="Calibri"/>
              </a:rPr>
              <a:t>Abdul Amin Kamara  |  22/CS/TEC/O72  |  UNIMTECH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E1B4B"/>
                </a:solidFill>
                <a:latin typeface="Calibri"/>
              </a:rPr>
              <a:t>Proposed Solution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70432"/>
            <a:ext cx="1143000" cy="685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Users: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four audiences — Admin, Landlord, Tenant and Guests (browse only).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Core flow: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Landlord lists property → Admin verifies → Tenant searches &amp; requests → Landlord approves → an active rental is created → payments, reviews and notifications follow.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Backend: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Appwrite Cloud — Account service for authentication and TablesDB for all data (no custom server).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Frontend: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static HTML, CSS and JavaScript with Bootstrap 5, served from any web server or CDN.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Demo data: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auto-seeded and idempotent — three accounts and six Sierra Leone properties priced in Nle.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Automation: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rent status (paid / due soon / overdue) is derived from recorded payments, never fabricated.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64748B"/>
                </a:solidFill>
                <a:latin typeface="Calibri"/>
              </a:rPr>
              <a:t>Abdul Amin Kamara  |  22/CS/TEC/O72  |  UNIMTECH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E1B4B"/>
                </a:solidFill>
                <a:latin typeface="Calibri"/>
              </a:rPr>
              <a:t>Methodology &amp; System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70432"/>
            <a:ext cx="1143000" cy="685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Approach: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SDLC with iterative build — requirements, design, implementation and testing.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Requirements: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analyse user roles and the complete rental workflow; define Sierra Leone demo scenario.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Data design: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entity-relationship model with nine tables (users, properties, bookings, rentals, payments, reviews, saved properties, notifications, reports).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Architecture: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browser client talks directly to Appwrite Cloud; an in-memory cache keeps the UI responsive.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Implementation: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modular JavaScript — config, data store, shared UI and per-page controllers.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Testing: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functional test cases for every role plus repeatable idempotent seeding.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64748B"/>
                </a:solidFill>
                <a:latin typeface="Calibri"/>
              </a:rPr>
              <a:t>Abdul Amin Kamara  |  22/CS/TEC/O72  |  UNIMTECH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E1B4B"/>
                </a:solidFill>
                <a:latin typeface="Calibri"/>
              </a:rPr>
              <a:t>Implementation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70432"/>
            <a:ext cx="1143000" cy="685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Authentication: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Appwrite email/password sign-in with role-based dashboards.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Listings: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property cards with multiple photos (compressed to data URLs).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Search: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keyword, city and type filters plus price and bedroom range filters.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Booking engine: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approving a request creates the rental, marks the property rented and auto-rejects rival requests.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Payments: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landlords record actual receipts; rent status and due dates are derived automatically.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Administration: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property verification, user activation/deactivation and report resolution.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Notifications: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automatic in-app alerts for every real event.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64748B"/>
                </a:solidFill>
                <a:latin typeface="Calibri"/>
              </a:rPr>
              <a:t>Abdul Amin Kamara  |  22/CS/TEC/O72  |  UNIMTECH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E1B4B"/>
                </a:solidFill>
                <a:latin typeface="Calibri"/>
              </a:rPr>
              <a:t>Testing &amp;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70432"/>
            <a:ext cx="1143000" cy="685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4F46E5"/>
                </a:solidFill>
                <a:latin typeface="Calibri"/>
              </a:rPr>
              <a:t>▪ End-to-end role flows: </a:t>
            </a:r>
            <a:r>
              <a:rPr sz="1600" b="0" i="0">
                <a:solidFill>
                  <a:srgbClr val="1E1B4B"/>
                </a:solidFill>
                <a:latin typeface="Calibri"/>
              </a:rPr>
              <a:t>register, login, list, search, request, approve, pay and moderate.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4F46E5"/>
                </a:solidFill>
                <a:latin typeface="Calibri"/>
              </a:rPr>
              <a:t>▪ Seeding verified as idempotent </a:t>
            </a:r>
            <a:r>
              <a:rPr sz="1600" b="0" i="0">
                <a:solidFill>
                  <a:srgbClr val="1E1B4B"/>
                </a:solidFill>
                <a:latin typeface="Calibri"/>
              </a:rPr>
              <a:t>— re-running never duplicates records.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4F46E5"/>
                </a:solidFill>
                <a:latin typeface="Calibri"/>
              </a:rPr>
              <a:t>▪ Edge cases: </a:t>
            </a:r>
            <a:r>
              <a:rPr sz="1600" b="0" i="0">
                <a:solidFill>
                  <a:srgbClr val="1E1B4B"/>
                </a:solidFill>
                <a:latin typeface="Calibri"/>
              </a:rPr>
              <a:t>duplicate requests blocked, occupied properties blocked, deactivated accounts rejected at login.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52044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69680"/>
                <a:gridCol w="1828800"/>
              </a:tblGrid>
              <a:tr h="391885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Test area</a:t>
                      </a:r>
                    </a:p>
                  </a:txBody>
                  <a:tcPr marL="73152" marR="73152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4F46E5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B4B"/>
                          </a:solidFill>
                          <a:latin typeface="Calibri"/>
                        </a:rPr>
                        <a:t>Authentication &amp; role access</a:t>
                      </a:r>
                    </a:p>
                  </a:txBody>
                  <a:tcPr marL="73152" marR="73152" marT="27432" marB="27432" anchor="ctr">
                    <a:solidFill>
                      <a:srgbClr val="F6F7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4F46E5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6F7FD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B4B"/>
                          </a:solidFill>
                          <a:latin typeface="Calibri"/>
                        </a:rPr>
                        <a:t>Property listing &amp; photo upload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4F46E5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B4B"/>
                          </a:solidFill>
                          <a:latin typeface="Calibri"/>
                        </a:rPr>
                        <a:t>Search, filters &amp; pagination</a:t>
                      </a:r>
                    </a:p>
                  </a:txBody>
                  <a:tcPr marL="73152" marR="73152" marT="27432" marB="27432" anchor="ctr">
                    <a:solidFill>
                      <a:srgbClr val="F6F7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4F46E5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6F7FD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B4B"/>
                          </a:solidFill>
                          <a:latin typeface="Calibri"/>
                        </a:rPr>
                        <a:t>Booking → approval → rental workflow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4F46E5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B4B"/>
                          </a:solidFill>
                          <a:latin typeface="Calibri"/>
                        </a:rPr>
                        <a:t>Rent payment recording &amp; derived status</a:t>
                      </a:r>
                    </a:p>
                  </a:txBody>
                  <a:tcPr marL="73152" marR="73152" marT="27432" marB="27432" anchor="ctr">
                    <a:solidFill>
                      <a:srgbClr val="F6F7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4F46E5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6F7FD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B4B"/>
                          </a:solidFill>
                          <a:latin typeface="Calibri"/>
                        </a:rPr>
                        <a:t>Admin verification, users &amp; reports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4F46E5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47395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64748B"/>
                </a:solidFill>
                <a:latin typeface="Calibri"/>
              </a:rPr>
              <a:t>Abdul Amin Kamara  |  22/CS/TEC/O72  |  UNIMTECH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E1B4B"/>
                </a:solidFill>
                <a:latin typeface="Calibri"/>
              </a:rPr>
              <a:t>Results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70432"/>
            <a:ext cx="1143000" cy="685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Faster discovery: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instant search and one-click booking request replace hours of manual searching and phone calls.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Stronger trust: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admin verification and moderation cut fake listings and give tenants confidence.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Clearer payments: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derived rent status removes guesswork and reduces disputes between tenant and landlord.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Better communication: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notifications keep every party informed the moment something changes.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What worked: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the booking-to-rental workflow and automated notifications performed reliably across all roles.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What didn’t / limitation: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demo uses permissive client-side table permissions — production needs server-enforced role permissions.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64748B"/>
                </a:solidFill>
                <a:latin typeface="Calibri"/>
              </a:rPr>
              <a:t>Abdul Amin Kamara  |  22/CS/TEC/O72  |  UNIMTECH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E1B4B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70432"/>
            <a:ext cx="1143000" cy="685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7C3AED"/>
                </a:solidFill>
                <a:latin typeface="Calibri"/>
              </a:rPr>
              <a:t>ACHIEVED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0" i="0">
                <a:solidFill>
                  <a:srgbClr val="1E1B4B"/>
                </a:solidFill>
                <a:latin typeface="Calibri"/>
              </a:rPr>
              <a:t>▪ A full role-based rental platform — every stated objective was met.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0" i="0">
                <a:solidFill>
                  <a:srgbClr val="1E1B4B"/>
                </a:solidFill>
                <a:latin typeface="Calibri"/>
              </a:rPr>
              <a:t>▪ Verified listings, tracked bookings and transparent rent records under one roof.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0" i="0">
                <a:solidFill>
                  <a:srgbClr val="1E1B4B"/>
                </a:solidFill>
                <a:latin typeface="Calibri"/>
              </a:rPr>
              <a:t>▪ Fully testable demo with repeatable, idempotent sample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7C3AED"/>
                </a:solidFill>
                <a:latin typeface="Calibri"/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10698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Online payments: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integrate a payment gateway for live rent collection.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Mobility: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native mobile app plus SMS / WhatsApp notifications.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Connectivity: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offline-first mode for low-connectivity regions.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▪ Production security: </a:t>
            </a:r>
            <a:r>
              <a:rPr sz="1700" b="0" i="0">
                <a:solidFill>
                  <a:srgbClr val="1E1B4B"/>
                </a:solidFill>
                <a:latin typeface="Calibri"/>
              </a:rPr>
              <a:t>server-enforced permissions, email verification and role labels.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7395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64748B"/>
                </a:solidFill>
                <a:latin typeface="Calibri"/>
              </a:rPr>
              <a:t>Abdul Amin Kamara  |  22/CS/TEC/O72  |  UNIMTECH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