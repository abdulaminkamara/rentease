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Design and Development of an</a:t>
            </a:r>
            <a:br/>
            <a:r>
              <a:t>Online Rental and Property Listing</a:t>
            </a:r>
            <a:br/>
            <a:r>
              <a:t>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RentEase  |  Final Year Project  |  Python Flask +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Introduction &amp; Problem Statement</a:t>
            </a:r>
          </a:p>
          <a:p>
            <a:pPr>
              <a:spcAft>
                <a:spcPts val="1200"/>
              </a:spcAft>
              <a:defRPr sz="1800"/>
            </a:pPr>
            <a:r>
              <a:t>•  Objectives</a:t>
            </a:r>
          </a:p>
          <a:p>
            <a:pPr>
              <a:spcAft>
                <a:spcPts val="1200"/>
              </a:spcAft>
              <a:defRPr sz="1800"/>
            </a:pPr>
            <a:r>
              <a:t>•  System Architecture &amp; Technology Stack</a:t>
            </a:r>
          </a:p>
          <a:p>
            <a:pPr>
              <a:spcAft>
                <a:spcPts val="1200"/>
              </a:spcAft>
              <a:defRPr sz="1800"/>
            </a:pPr>
            <a:r>
              <a:t>•  Key Features &amp; Modules</a:t>
            </a:r>
          </a:p>
          <a:p>
            <a:pPr>
              <a:spcAft>
                <a:spcPts val="1200"/>
              </a:spcAft>
              <a:defRPr sz="1800"/>
            </a:pPr>
            <a:r>
              <a:t>•  Database Design</a:t>
            </a:r>
          </a:p>
          <a:p>
            <a:pPr>
              <a:spcAft>
                <a:spcPts val="1200"/>
              </a:spcAft>
              <a:defRPr sz="1800"/>
            </a:pPr>
            <a:r>
              <a:t>•  Implementation Highlights</a:t>
            </a:r>
          </a:p>
          <a:p>
            <a:pPr>
              <a:spcAft>
                <a:spcPts val="1200"/>
              </a:spcAft>
              <a:defRPr sz="1800"/>
            </a:pPr>
            <a:r>
              <a:t>•  Testing &amp; Results</a:t>
            </a:r>
          </a:p>
          <a:p>
            <a:pPr>
              <a:spcAft>
                <a:spcPts val="1200"/>
              </a:spcAft>
              <a:defRPr sz="1800"/>
            </a:pPr>
            <a:r>
              <a:t>• 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Finding rental properties is time-consuming and lacks transparency</a:t>
            </a:r>
          </a:p>
          <a:p>
            <a:pPr>
              <a:spcAft>
                <a:spcPts val="1200"/>
              </a:spcAft>
              <a:defRPr sz="1800"/>
            </a:pPr>
            <a:r>
              <a:t>•  Traditional methods rely on brokers and offline advertisements</a:t>
            </a:r>
          </a:p>
          <a:p>
            <a:pPr>
              <a:spcAft>
                <a:spcPts val="1200"/>
              </a:spcAft>
              <a:defRPr sz="1800"/>
            </a:pPr>
            <a:r>
              <a:t>•  No standardized digital workflow for listing and booking</a:t>
            </a:r>
          </a:p>
          <a:p>
            <a:pPr>
              <a:spcAft>
                <a:spcPts val="1200"/>
              </a:spcAft>
              <a:defRPr sz="1800"/>
            </a:pPr>
            <a:r>
              <a:t>•  Limited reviews and verified information about properties</a:t>
            </a:r>
          </a:p>
          <a:p>
            <a:pPr>
              <a:spcAft>
                <a:spcPts val="1200"/>
              </a:spcAft>
              <a:defRPr sz="1800"/>
            </a:pPr>
            <a:r>
              <a:t>•  Need for a centralized, role-based online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Develop a full-stack web application using Python Flask and MySQL</a:t>
            </a:r>
          </a:p>
          <a:p>
            <a:pPr>
              <a:spcAft>
                <a:spcPts val="1200"/>
              </a:spcAft>
              <a:defRPr sz="1800"/>
            </a:pPr>
            <a:r>
              <a:t>•  Implement role-based access (Admin, Landlord, Tenant)</a:t>
            </a:r>
          </a:p>
          <a:p>
            <a:pPr>
              <a:spcAft>
                <a:spcPts val="1200"/>
              </a:spcAft>
              <a:defRPr sz="1800"/>
            </a:pPr>
            <a:r>
              <a:t>•  Enable property listing with image upload and management</a:t>
            </a:r>
          </a:p>
          <a:p>
            <a:pPr>
              <a:spcAft>
                <a:spcPts val="1200"/>
              </a:spcAft>
              <a:defRPr sz="1800"/>
            </a:pPr>
            <a:r>
              <a:t>•  Provide advanced search and filtering capabilities</a:t>
            </a:r>
          </a:p>
          <a:p>
            <a:pPr>
              <a:spcAft>
                <a:spcPts val="1200"/>
              </a:spcAft>
              <a:defRPr sz="1800"/>
            </a:pPr>
            <a:r>
              <a:t>•  Implement booking request and approval workflow</a:t>
            </a:r>
          </a:p>
          <a:p>
            <a:pPr>
              <a:spcAft>
                <a:spcPts val="1200"/>
              </a:spcAft>
              <a:defRPr sz="1800"/>
            </a:pPr>
            <a:r>
              <a:t>•  Add reviews &amp; ratings system</a:t>
            </a:r>
          </a:p>
          <a:p>
            <a:pPr>
              <a:spcAft>
                <a:spcPts val="1200"/>
              </a:spcAft>
              <a:defRPr sz="1800"/>
            </a:pPr>
            <a:r>
              <a:t>•  Create responsive and user-friendly interfaces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Backend: Python 3 + Flask 3.x</a:t>
            </a:r>
          </a:p>
          <a:p>
            <a:pPr>
              <a:spcAft>
                <a:spcPts val="1200"/>
              </a:spcAft>
              <a:defRPr sz="1800"/>
            </a:pPr>
            <a:r>
              <a:t>•  ORM: Flask-SQLAlchemy</a:t>
            </a:r>
          </a:p>
          <a:p>
            <a:pPr>
              <a:spcAft>
                <a:spcPts val="1200"/>
              </a:spcAft>
              <a:defRPr sz="1800"/>
            </a:pPr>
            <a:r>
              <a:t>•  Database: MySQL 8 (SQLite for demo)</a:t>
            </a:r>
          </a:p>
          <a:p>
            <a:pPr>
              <a:spcAft>
                <a:spcPts val="1200"/>
              </a:spcAft>
              <a:defRPr sz="1800"/>
            </a:pPr>
            <a:r>
              <a:t>•  Authentication: Flask-Login + Werkzeug security</a:t>
            </a:r>
          </a:p>
          <a:p>
            <a:pPr>
              <a:spcAft>
                <a:spcPts val="1200"/>
              </a:spcAft>
              <a:defRPr sz="1800"/>
            </a:pPr>
            <a:r>
              <a:t>•  Forms &amp; Validation: Flask-WTF + WTForms</a:t>
            </a:r>
          </a:p>
          <a:p>
            <a:pPr>
              <a:spcAft>
                <a:spcPts val="1200"/>
              </a:spcAft>
              <a:defRPr sz="1800"/>
            </a:pPr>
            <a:r>
              <a:t>•  Frontend: Bootstrap 5 + Jinja2 Templates</a:t>
            </a:r>
          </a:p>
          <a:p>
            <a:pPr>
              <a:spcAft>
                <a:spcPts val="1200"/>
              </a:spcAft>
              <a:defRPr sz="1800"/>
            </a:pPr>
            <a:r>
              <a:t>•  Image Handling: Pillow + secure file uploads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Three-tier Architecture (Presentation – Application – Data)</a:t>
            </a:r>
          </a:p>
          <a:p>
            <a:pPr>
              <a:spcAft>
                <a:spcPts val="1200"/>
              </a:spcAft>
              <a:defRPr sz="1800"/>
            </a:pPr>
            <a:r>
              <a:t>•  Presentation: Bootstrap 5 responsive UI + Jinja2</a:t>
            </a:r>
          </a:p>
          <a:p>
            <a:pPr>
              <a:spcAft>
                <a:spcPts val="1200"/>
              </a:spcAft>
              <a:defRPr sz="1800"/>
            </a:pPr>
            <a:r>
              <a:t>•  Application: Flask routes, forms, business logic, role decorators</a:t>
            </a:r>
          </a:p>
          <a:p>
            <a:pPr>
              <a:spcAft>
                <a:spcPts val="1200"/>
              </a:spcAft>
              <a:defRPr sz="1800"/>
            </a:pPr>
            <a:r>
              <a:t>•  Data: MySQL via SQLAlchemy ORM</a:t>
            </a:r>
          </a:p>
          <a:p>
            <a:pPr>
              <a:spcAft>
                <a:spcPts val="1200"/>
              </a:spcAft>
              <a:defRPr sz="1800"/>
            </a:pPr>
            <a:r>
              <a:t>•  MVC-inspired separation of concerns</a:t>
            </a:r>
          </a:p>
          <a:p>
            <a:pPr>
              <a:spcAft>
                <a:spcPts val="1200"/>
              </a:spcAft>
              <a:defRPr sz="1800"/>
            </a:pPr>
            <a:r>
              <a:t>•  RESTful URL design and CSRF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Multi-role Authentication (Admin / Landlord / Tenant)</a:t>
            </a:r>
          </a:p>
          <a:p>
            <a:pPr>
              <a:spcAft>
                <a:spcPts val="1200"/>
              </a:spcAft>
              <a:defRPr sz="1800"/>
            </a:pPr>
            <a:r>
              <a:t>•  Property CRUD with multiple image upload</a:t>
            </a:r>
          </a:p>
          <a:p>
            <a:pPr>
              <a:spcAft>
                <a:spcPts val="1200"/>
              </a:spcAft>
              <a:defRPr sz="1800"/>
            </a:pPr>
            <a:r>
              <a:t>•  Advanced Search (city, type, price, bedrooms)</a:t>
            </a:r>
          </a:p>
          <a:p>
            <a:pPr>
              <a:spcAft>
                <a:spcPts val="1200"/>
              </a:spcAft>
              <a:defRPr sz="1800"/>
            </a:pPr>
            <a:r>
              <a:t>•  Booking Request → Approve / Reject workflow</a:t>
            </a:r>
          </a:p>
          <a:p>
            <a:pPr>
              <a:spcAft>
                <a:spcPts val="1200"/>
              </a:spcAft>
              <a:defRPr sz="1800"/>
            </a:pPr>
            <a:r>
              <a:t>•  Reviews &amp; Average Ratings</a:t>
            </a:r>
          </a:p>
          <a:p>
            <a:pPr>
              <a:spcAft>
                <a:spcPts val="1200"/>
              </a:spcAft>
              <a:defRPr sz="1800"/>
            </a:pPr>
            <a:r>
              <a:t>•  Role-specific Dashboards</a:t>
            </a:r>
          </a:p>
          <a:p>
            <a:pPr>
              <a:spcAft>
                <a:spcPts val="1200"/>
              </a:spcAft>
              <a:defRPr sz="1800"/>
            </a:pPr>
            <a:r>
              <a:t>•  Admin user management and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users – authentication and role information</a:t>
            </a:r>
          </a:p>
          <a:p>
            <a:pPr>
              <a:spcAft>
                <a:spcPts val="1200"/>
              </a:spcAft>
              <a:defRPr sz="1800"/>
            </a:pPr>
            <a:r>
              <a:t>•  properties – listing details linked to landlord</a:t>
            </a:r>
          </a:p>
          <a:p>
            <a:pPr>
              <a:spcAft>
                <a:spcPts val="1200"/>
              </a:spcAft>
              <a:defRPr sz="1800"/>
            </a:pPr>
            <a:r>
              <a:t>•  property_images – multiple images per property</a:t>
            </a:r>
          </a:p>
          <a:p>
            <a:pPr>
              <a:spcAft>
                <a:spcPts val="1200"/>
              </a:spcAft>
              <a:defRPr sz="1800"/>
            </a:pPr>
            <a:r>
              <a:t>•  bookings – rental requests and status tracking</a:t>
            </a:r>
          </a:p>
          <a:p>
            <a:pPr>
              <a:spcAft>
                <a:spcPts val="1200"/>
              </a:spcAft>
              <a:defRPr sz="1800"/>
            </a:pPr>
            <a:r>
              <a:t>•  reviews – ratings and comments by tenants</a:t>
            </a:r>
          </a:p>
          <a:p>
            <a:pPr>
              <a:spcAft>
                <a:spcPts val="1200"/>
              </a:spcAft>
              <a:defRPr sz="1800"/>
            </a:pPr>
            <a:r>
              <a:t>•  Proper foreign keys and cascading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Password hashing with Werkzeug (pbkdf2:sha256)</a:t>
            </a:r>
          </a:p>
          <a:p>
            <a:pPr>
              <a:spcAft>
                <a:spcPts val="1200"/>
              </a:spcAft>
              <a:defRPr sz="1800"/>
            </a:pPr>
            <a:r>
              <a:t>•  Role-required decorator for access control</a:t>
            </a:r>
          </a:p>
          <a:p>
            <a:pPr>
              <a:spcAft>
                <a:spcPts val="1200"/>
              </a:spcAft>
              <a:defRPr sz="1800"/>
            </a:pPr>
            <a:r>
              <a:t>•  Secure file upload with extension whitelist</a:t>
            </a:r>
          </a:p>
          <a:p>
            <a:pPr>
              <a:spcAft>
                <a:spcPts val="1200"/>
              </a:spcAft>
              <a:defRPr sz="1800"/>
            </a:pPr>
            <a:r>
              <a:t>•  Pagination for property listings</a:t>
            </a:r>
          </a:p>
          <a:p>
            <a:pPr>
              <a:spcAft>
                <a:spcPts val="1200"/>
              </a:spcAft>
              <a:defRPr sz="1800"/>
            </a:pPr>
            <a:r>
              <a:t>•  Dynamic average rating calculation</a:t>
            </a:r>
          </a:p>
          <a:p>
            <a:pPr>
              <a:spcAft>
                <a:spcPts val="1200"/>
              </a:spcAft>
              <a:defRPr sz="1800"/>
            </a:pPr>
            <a:r>
              <a:t>•  Flash messages for user feedback</a:t>
            </a:r>
          </a:p>
          <a:p>
            <a:pPr>
              <a:spcAft>
                <a:spcPts val="1200"/>
              </a:spcAft>
              <a:defRPr sz="1800"/>
            </a:pPr>
            <a:r>
              <a:t>•  Clean modular code structure (models, forms, routes)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Registration and Login (valid / invalid credentials)</a:t>
            </a:r>
          </a:p>
          <a:p>
            <a:pPr>
              <a:spcAft>
                <a:spcPts val="1200"/>
              </a:spcAft>
              <a:defRPr sz="1800"/>
            </a:pPr>
            <a:r>
              <a:t>•  Property creation with images</a:t>
            </a:r>
          </a:p>
          <a:p>
            <a:pPr>
              <a:spcAft>
                <a:spcPts val="1200"/>
              </a:spcAft>
              <a:defRPr sz="1800"/>
            </a:pPr>
            <a:r>
              <a:t>•  Search and filter functionality</a:t>
            </a:r>
          </a:p>
          <a:p>
            <a:pPr>
              <a:spcAft>
                <a:spcPts val="1200"/>
              </a:spcAft>
              <a:defRPr sz="1800"/>
            </a:pPr>
            <a:r>
              <a:t>•  Booking request and approval flow</a:t>
            </a:r>
          </a:p>
          <a:p>
            <a:pPr>
              <a:spcAft>
                <a:spcPts val="1200"/>
              </a:spcAft>
              <a:defRPr sz="1800"/>
            </a:pPr>
            <a:r>
              <a:t>•  Unauthorized access prevention</a:t>
            </a:r>
          </a:p>
          <a:p>
            <a:pPr>
              <a:spcAft>
                <a:spcPts val="1200"/>
              </a:spcAft>
              <a:defRPr sz="1800"/>
            </a:pPr>
            <a:r>
              <a:t>•  Review submission and display</a:t>
            </a:r>
          </a:p>
          <a:p>
            <a:pPr>
              <a:spcAft>
                <a:spcPts val="1200"/>
              </a:spcAft>
              <a:defRPr sz="1800"/>
            </a:pPr>
            <a:r>
              <a:t>•  All core test cases passed successfully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Successfully developed a complete Online Rental Management System</a:t>
            </a:r>
          </a:p>
          <a:p>
            <a:pPr>
              <a:spcAft>
                <a:spcPts val="1200"/>
              </a:spcAft>
              <a:defRPr sz="1800"/>
            </a:pPr>
            <a:r>
              <a:t>•  All major objectives achieved within academic scope</a:t>
            </a:r>
          </a:p>
          <a:p>
            <a:pPr>
              <a:spcAft>
                <a:spcPts val="1200"/>
              </a:spcAft>
              <a:defRPr sz="1800"/>
            </a:pPr>
            <a:r>
              <a:t>•  Clean architecture makes the system maintainable and extensible</a:t>
            </a:r>
          </a:p>
          <a:p>
            <a:pPr>
              <a:spcAft>
                <a:spcPts val="1200"/>
              </a:spcAft>
              <a:defRPr sz="1800"/>
            </a:pPr>
            <a:r>
              <a:t>•  Demonstrates practical full-stack Python web development skills</a:t>
            </a:r>
          </a:p>
          <a:p>
            <a:pPr>
              <a:spcAft>
                <a:spcPts val="1200"/>
              </a:spcAft>
              <a:defRPr sz="1800"/>
            </a:pPr>
            <a:r>
              <a:t>•  Ready for further enhancement with payment and maps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 Payment gateway integration (Razorpay / Stripe)</a:t>
            </a:r>
          </a:p>
          <a:p>
            <a:pPr>
              <a:spcAft>
                <a:spcPts val="1200"/>
              </a:spcAft>
              <a:defRPr sz="1800"/>
            </a:pPr>
            <a:r>
              <a:t>•  Real-time messaging between users</a:t>
            </a:r>
          </a:p>
          <a:p>
            <a:pPr>
              <a:spcAft>
                <a:spcPts val="1200"/>
              </a:spcAft>
              <a:defRPr sz="1800"/>
            </a:pPr>
            <a:r>
              <a:t>•  Map-based search and location services</a:t>
            </a:r>
          </a:p>
          <a:p>
            <a:pPr>
              <a:spcAft>
                <a:spcPts val="1200"/>
              </a:spcAft>
              <a:defRPr sz="1800"/>
            </a:pPr>
            <a:r>
              <a:t>•  Email / SMS notifications</a:t>
            </a:r>
          </a:p>
          <a:p>
            <a:pPr>
              <a:spcAft>
                <a:spcPts val="1200"/>
              </a:spcAft>
              <a:defRPr sz="1800"/>
            </a:pPr>
            <a:r>
              <a:t>•  Mobile application (API-based)</a:t>
            </a:r>
          </a:p>
          <a:p>
            <a:pPr>
              <a:spcAft>
                <a:spcPts val="1200"/>
              </a:spcAft>
              <a:defRPr sz="1800"/>
            </a:pPr>
            <a:r>
              <a:t>•  Document verification and advanced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Questions are Welcome</a:t>
            </a:r>
            <a:br/>
            <a:br/>
            <a:r>
              <a:t>RentEase – Final Year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